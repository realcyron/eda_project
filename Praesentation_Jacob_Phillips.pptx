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spPr>
            <a:solidFill>
              <a:srgbClr val="1F4D3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726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Historisch</c:v>
                </c:pt>
                <c:pt idx="1">
                  <c:v>Großes Grundstück</c:v>
                </c:pt>
                <c:pt idx="2">
                  <c:v>Renoviert</c:v>
                </c:pt>
                <c:pt idx="3">
                  <c:v>4+ Bäder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22.8</c:v>
                </c:pt>
                <c:pt idx="1">
                  <c:v>5.6</c:v>
                </c:pt>
                <c:pt idx="2">
                  <c:v>3.5</c:v>
                </c:pt>
                <c:pt idx="3">
                  <c:v>1.9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726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726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1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spPr>
            <a:solidFill>
              <a:srgbClr val="1F4D3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726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0–10 km</c:v>
                </c:pt>
                <c:pt idx="1">
                  <c:v>10–20 km</c:v>
                </c:pt>
                <c:pt idx="2">
                  <c:v>20–30 km</c:v>
                </c:pt>
                <c:pt idx="3">
                  <c:v>30–40 km</c:v>
                </c:pt>
                <c:pt idx="4">
                  <c:v>40+ 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1.9</c:v>
                </c:pt>
                <c:pt idx="2">
                  <c:v>13.3</c:v>
                </c:pt>
                <c:pt idx="3">
                  <c:v>9.4</c:v>
                </c:pt>
                <c:pt idx="4">
                  <c:v>29.8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726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726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1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Bäder</c:v>
                </c:pt>
              </c:strCache>
            </c:strRef>
          </c:tx>
          <c:spPr>
            <a:solidFill>
              <a:srgbClr val="1F4D3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726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D3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9A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D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A1E"/>
              </a:solidFill>
              <a:effectLst/>
            </c:spPr>
          </c:dPt>
          <c:cat>
            <c:strRef>
              <c:f>Sheet1!$A$2:$A$5</c:f>
              <c:strCache>
                <c:ptCount val="4"/>
                <c:pt idx="0">
                  <c:v>Historisch</c:v>
                </c:pt>
                <c:pt idx="1">
                  <c:v>Neuer (ab 1950)</c:v>
                </c:pt>
                <c:pt idx="2">
                  <c:v>Historisch, nicht renoviert</c:v>
                </c:pt>
                <c:pt idx="3">
                  <c:v>Historisch, renoviert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1.5</c:v>
                </c:pt>
                <c:pt idx="3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600" u="none">
                  <a:solidFill>
                    <a:srgbClr val="1726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726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1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Korrelation</c:v>
                </c:pt>
              </c:strCache>
            </c:strRef>
          </c:tx>
          <c:spPr>
            <a:solidFill>
              <a:srgbClr val="1F4D3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726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D3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A1E"/>
              </a:solidFill>
              <a:effectLst/>
            </c:spPr>
          </c:dPt>
          <c:cat>
            <c:strRef>
              <c:f>Sheet1!$A$2:$A$3</c:f>
              <c:strCache>
                <c:ptCount val="2"/>
                <c:pt idx="0">
                  <c:v>Wohnfläche</c:v>
                </c:pt>
                <c:pt idx="1">
                  <c:v>Grundstücksgröße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0.64</c:v>
                </c:pt>
                <c:pt idx="1">
                  <c:v>0.08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600" u="none">
                  <a:solidFill>
                    <a:srgbClr val="1726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726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1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Ziel: aufzeigen, wo der Käufer suchen sollte und worauf er sich einstellen muss.
- Begrüßen, kurz vorstellen
- Kernfrage nennen: Wo findet er ein historisches Haus mit großem Grundstück und genug Bädern?
- Ablauf in einem Satz: Kunde und Fragestellung, Daten, drei Hypothesen, Empfehlungen, nächste Schritte
- Hinweis: 10 Minuten Vortrag, danach 5 Minuten Diskussion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KUNDE (ca. 1 Min.)
- Jacob Phillips ist Käufer, Budget unbegrenzt
- Er will: historisch, großes Grundstück (Tennisplatz + Pool), 4+ Bäder oder kleineres Haus in der Nähe, Golf, keine Wasserlage
- Das sind viele Wünsche gleichzeitig, deshalb die Frage rechts
- Wichtig: Golf und "kleineres Haus in der Nähe" sind noch nicht ausgewertet (siehe letzte Folie)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DATEN UND VORGEHEN (ca. 1 Min.)
- Datensatz: rund 21.600 Verkäufe, 70 Postleitzahlen, ein Jahr
- Vorgehen in vier Schritten: laden, bereinigen, prüfen, empfehlen
- Bereinigung kurz: Renovierungsjahre waren um Faktor 10 falsch gespeichert; Häuser, die mehrfach verkauft wurden, zählen nur einmal
- Nur 0,8 % der Zeilen gingen verloren, die Analyse beruht also auf nahezu allen Daten
- Nicht ins Detail gehen, Zielgruppe ist nicht technisch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ANNAHMEN (ca. 1 Min.) - laut Aufgabenstellung werden sie ausdrücklich genannt
- Großes Grundstück = ab 40.000 sqft (ca. 3.700 m2): Tennisplatz ca. 7.200 sqft + Pool + Haus + Garten
- Historisch = gebaut vor 1950
- Bezugspunkt für Entfernungen = Downtown Seattle
- Ausreißer bleiben drin: Unbegrenztes Budget, also sind teure Häuser und sehr große Grundstücke genau das, was er sucht
- Grafik: Die Wunschmerkmale sind selten. Historisch ca. 23 %, großes Grundstück nur ca. 6 %, renoviert ca. 3,5 %, 4+ Bäder nur ca. 2 %
- Schon hier: Die Schnittmenge aller Wünsche wird klein sein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H1 - GEOGRAFISCH (ca. 1,5 Min.)
- Je weiter weg vom Zentrum, desto größer das Grundstück (Spearman-Korrelation 0,44, H1 bestätigt)
- Im 10-km-Radius um Downtown: weniger als 0,1 % große Grundstücke
- Ab 20 km über 13 %, jenseits von 40 km fast jedes dritte Haus (ca. 30 %)
- Große Grundstücke liegen im Median 28 km vom Zentrum, normale nur 16 km
- Hotspots: Osten (Redmond, Woodinville, Issaquah), Südosten (Maple Valley, Enumclaw), Vashon Island
- Kleiner Rückgang bei 30-40 km: dichter bebaute Vororte im Süden (Kent, Auburn)
- Take-away: Wer Platz will, muss raus aus Seattle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H2 - BÄDER (ca. 1,5 Min.)
- Historische Häuser: im Median 1,5 Bäder, neuere 2,5
- Innerhalb der historischen Häuser: nicht renoviert 1,5, renoviert 2,0
- 4+ Bäder: bei nicht renovierten historischen Häusern unter 1 %, bei renovierten knapp 4 %, also über fünfmal so häufig
- Beide Unterschiede sind statistisch hochsignifikant (Mann-Whitney-Test), im Vortrag nur "eindeutig" sagen
- Take-away: Das Badezimmer-Wunsch passt schlecht zu "historisch"; Renovierung hilft, ist aber selten (nur ca. 3,5 % aller Häuser)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H3 - PREIS (ca. 1,5 Min.)
- Der Preis hängt stark an der Wohnfläche (Korrelation 0,64), kaum am Grundstück (0,08)
- Ein Quadratfuß Land kostet bei großen Grundstücken im Median ca. 7 $, bei normalen ca. 63 $, fast neunmal so viel
- Grund: große Grundstücke liegen weit draußen (siehe Erkenntnis 1), dort ist Land billig
- Für den Kunden: Zusätzlicher Platz kostet draußen fast nichts, das Haus selbst ist der Preistreiber
- Korrelation in einem Satz erklären: 1 = Preis steigt immer mit, 0 = kein Zusammenhang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SCHNITTMENGE (ca. 1 Min.) - der wichtigste Übergang zu den Empfehlungen
- Trichter von oben nach unten: 21.420 Häuser, davon 1.202 mit großem Grundstück
- Davon historisch: 119; davon renoviert: 22
- Mit 4+ Bädern: nur 3 Häuser
- Aussage: Das Grundstück ist nicht der Engpass, die Badezimmer sind es
- Ehrlich sagen: Diese Zahlen berücksichtigen noch nicht Golf und Wasserlage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EMPFEHLUNGEN (ca. 1,5 Min.)
1. Im Umland suchen: 20+ km, Osten/Südosten. Konkrete PLZ: 98022 Enumclaw, 98065 Snoqualmie, 98072 Woodinville. Stadtnah nur Ausnahmen (98118, 98144, 98177) und dann 1,7 bis 2,9 Mio. $
2. Nicht auf 4+ Bäder bestehen: historisches Haus kaufen und Bäder ergänzen; Gästehaus auf dem Grundstück als "kleineres Haus in der Nähe"
3. Budget in Haus und Ausstattung statt Landfläche: Land ist draußen billig, Haus und Renovierung sind die Preistreiber
- Die drei Empfehlungen folgen direkt aus H1, H2 und H3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FAZIT UND NÄCHSTE SCHRITTE (ca. 1 Min.)
- Ein-Satz-Fazit: Passende Objekte liegen vor allem im Umland, fehlende Bäder lassen sich nachrüsten
- Offene Punkte, die noch nicht abgedeckt sind: Golfplatz-Nähe (OpenStreetMap), Wasserlage (waterfront) vor Besichtigung prüfen, v. a. Vashon Island
- Vorschlag: Shortlist aus den ca. 120 historischen Häusern mit großem Grundstück, dann Besichtigungen
- Übergang in die Diskussion (5 Minuten)
MÖGLICHE FRAGEN
- Warum 40.000 sqft? Tennisplatz ca. 7.200 sqft + Pool + Haus + Garten, Annahme ist anpassbar
- Wie aktuell sind die Daten? Mai 2014 bis Mai 2015, Preise sind also nicht aktuell, die Struktur (wo, was) bleibt aussagekräftig
- Warum Seattle-Innenstadt als Zentrum? Gängiger Bezugspunkt der Region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OP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0972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 HOUSING · DATENANALYSE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Immobiliensuche in King County für Jacob Phillips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Immobilien erfüllen die Wünsche eines Käufers mit unbegrenztem Budget, und wo liegen sie?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Auswertung von rund 21.600 Hausverkäufen in Seattle und Umgebung, Mai 2014 bis Mai 2015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 und Fragestellung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819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Unbegrenztes Budget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11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Teure Häuser sind kein Ausschlusskriterium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963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Historisches Haus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254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Idealerweise vor 1950 gebaut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107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Großes Grundstück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398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 für Tennisplatz und Pool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251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Badezimmer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654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 ein kleineres Haus in der Nähe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2395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Golfplatz in der Nähe, keine Wasserlage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5686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Wasserlage ist ausdrücklich unerwünscht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06640" y="1600200"/>
            <a:ext cx="4251960" cy="4434840"/>
          </a:xfrm>
          <a:prstGeom prst="roundRect">
            <a:avLst>
              <a:gd name="adj" fmla="val 2581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FRAGESTELLUNG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3774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Immobilien in King County erfüllen die Wünsche eines Käufers mit unbegrenztem Budget und in welchen Regionen finden sich diese Objekte am häufigsten?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5120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Hypothesen (H1 bis H3) werden auf den Folien 5 bis 7 geprüft.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und Vorgehen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21.597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Verkäufe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Postleitzahlgebiete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Monate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2014 bis Mai 2015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Datenbanktabellen per SQL zusammengeführt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383280" y="3611880"/>
            <a:ext cx="548640" cy="548640"/>
          </a:xfrm>
          <a:prstGeom prst="ellipse">
            <a:avLst/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Bereinigen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3891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 Renovierungsjahre korrigiert, Mehrfachverkäufe nur einmal gezählt. Datenverlust: nur 0,8 %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548640" cy="548640"/>
          </a:xfrm>
          <a:prstGeom prst="ellipse">
            <a:avLst/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3891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Hypothesen (H1 bis H3) mit Karten, Vergleichen und Tests geprüft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052560" y="3611880"/>
            <a:ext cx="548640" cy="548640"/>
          </a:xfrm>
          <a:prstGeom prst="ellipse">
            <a:avLst/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525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Empfehlen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43891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auf die Wünsche des Käufers übertragen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461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Großes Grundstück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40.000 sqft, also rund 3.700 m². Ein Tennisplatz braucht etwa 7.200 sqft, dazu kommen Pool, Haus und Garten.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1554480"/>
            <a:ext cx="32461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1945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Gebaut vor 1950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2461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114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Stadtzentrum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72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Seattle ist der Bezugspunkt für alle Entfernungen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77640" y="3931920"/>
            <a:ext cx="32461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4114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Ausreißer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572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 nicht entfernt: Bei unbegrenztem Budget sind teure Häuser und große Grundstücke gerade relevant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 an allen Verkäufen</a:t>
            </a:r>
            <a:endParaRPr lang="en-US" sz="18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498080" y="1920240"/>
          <a:ext cx="4206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Große Grundstücke liegen eher außerhalb der Stadtzentren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 Häuser mit großem Grundstück nach Entfernung zu Downtown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2880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94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0,1 %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Grundstücke im Umkreis von 10 km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63840" y="3154680"/>
            <a:ext cx="3794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 km statt 16 km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mittlere Entfernung großer vs. normaler Grundstücke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754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Schwerpunkte: Redmond, Woodinville, Issaquah, Enumclaw und Vashon Island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-180000">
            <a:off x="8001000" y="5577840"/>
            <a:ext cx="3566160" cy="685800"/>
          </a:xfrm>
          <a:prstGeom prst="roundRect">
            <a:avLst>
              <a:gd name="adj" fmla="val 26667"/>
            </a:avLst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 rot="-180000">
            <a:off x="8001000" y="5577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bestätigt (ρ = 0,44)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Historische Häuser haben im Schnitt weniger Bäder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Mittlere Anzahl Badezimmer (Median)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2880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94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Bäder sind die Ausnahme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1 %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renoviert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78408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knapp 4 %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78408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renoviert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9319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Renovierung bringt im Schnitt ein halbes Bad mehr und macht 4+ Bäder über fünfmal so häufig. Der Unterschied ist statistisch eindeutig.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-180000">
            <a:off x="8001000" y="5120640"/>
            <a:ext cx="3566160" cy="685800"/>
          </a:xfrm>
          <a:prstGeom prst="roundRect">
            <a:avLst>
              <a:gd name="adj" fmla="val 26667"/>
            </a:avLst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 rot="-180000">
            <a:off x="8001000" y="5120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bestätigt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Grundstücksgröße beeinflusst den Preis schwächer als die Wohnfläche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Zusammenhang mit dem Preis (Korrelation, 0 bis 1)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2880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67512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Median-Preis pro Quadratfuß Grundstück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75120" y="192024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63 $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normales Grundstück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81160" y="192024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8116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7 $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großes Grundstück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29768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neunmal günstiger: Große Grundstücke liegen weit draußen, wo Land wenig kostet. Der Preis hängt vor allem am Haus.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 rot="-180000">
            <a:off x="8001000" y="5120640"/>
            <a:ext cx="3566160" cy="685800"/>
          </a:xfrm>
          <a:prstGeom prst="roundRect">
            <a:avLst>
              <a:gd name="adj" fmla="val 26667"/>
            </a:avLst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 rot="-180000">
            <a:off x="8001000" y="5120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bestätigt (0,08 vs. 0,64)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3 Häuser erfüllen Grundstück, Alter und Bäder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C7D8CC"/>
          </a:solidFill>
          <a:ln w="12700">
            <a:solidFill>
              <a:srgbClr val="C7D8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21.420  </a:t>
            </a:r>
            <a:pPr algn="ctr" indent="0" marL="0">
              <a:buNone/>
            </a:pPr>
            <a:r>
              <a:rPr lang="en-US" sz="17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Häuser insgesamt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269748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6E9A7E"/>
          </a:solidFill>
          <a:ln w="12700">
            <a:solidFill>
              <a:srgbClr val="6E9A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6974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1.202 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großem Grundstück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0" y="379476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historisch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468880" y="48920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4+ Bäder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955280" y="1600200"/>
            <a:ext cx="3703320" cy="4206240"/>
          </a:xfrm>
          <a:prstGeom prst="roundRect">
            <a:avLst>
              <a:gd name="adj" fmla="val 2963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ENGPASS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das Grundstück, sondern die Badezimmer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931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 120 historische Häuser haben ein großes Grundstück, 22 davon sind renoviert. Mit 4+ Bädern gibt es nur 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Empfehlungen für Jacob Phillips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Umland suchen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20 km von Downtown, vor allem Osten und Südosten: Enumclaw (98022), Snoqualmie (98065), Woodinville (98072). Stadtnah gibt es nur Einzelfälle in Seattle (98118, 98144, 98177), für 1,7 bis 2,9 Mio. $. Grundlage: H1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Bäder ergänzen statt suchen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703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historisches Haus auf großem Grundstück kaufen und Bäder ergänzen. Ein Gästehaus auf dem Grundstück erfüllt zugleich den Wunsch nach einem kleineren Haus in der Nähe. Grundlage: H2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D97A1E"/>
          </a:solidFill>
          <a:ln w="12700">
            <a:solidFill>
              <a:srgbClr val="D97A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Haus statt Land investieren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703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ist draußen günstig. Das Budget fließt besser in das schönste historische Haus, Renovierung, Tennisplatz und Pool als in noch mehr Fläche. Grundlage: H3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UND NÄCHSTE SCHRITTE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10972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 Objekte liegen vor allem im Umland, fehlende Bäder lassen sich nachrüsten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2A5E44"/>
          </a:solidFill>
          <a:ln w="12700">
            <a:solidFill>
              <a:srgbClr val="2A5E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Golfplätze ergänzen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Koordinaten aus OpenStreetMap ergänzen und nach Entfernung zum nächsten Platz filtern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301752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2A5E44"/>
          </a:solidFill>
          <a:ln w="12700">
            <a:solidFill>
              <a:srgbClr val="2A5E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Wasserlage prüfen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Besonders auf Vashon Island Objekte mit Wasserlage ausschließen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301752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2A5E44"/>
          </a:solidFill>
          <a:ln w="12700">
            <a:solidFill>
              <a:srgbClr val="2A5E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Besichtigungen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den rund 120 Kandidaten eine Shortlist bilden und Besichtigungen planen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Dank, Fragen und Diskussion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ng County Estate">
  <a:themeElements>
    <a:clrScheme name="King County Estate">
      <a:dk1>
        <a:srgbClr val="17261E"/>
      </a:dk1>
      <a:lt1>
        <a:srgbClr val="FFFFFF"/>
      </a:lt1>
      <a:dk2>
        <a:srgbClr val="1F4D36"/>
      </a:dk2>
      <a:lt2>
        <a:srgbClr val="EAF1EC"/>
      </a:lt2>
      <a:accent1>
        <a:srgbClr val="1F4D36"/>
      </a:accent1>
      <a:accent2>
        <a:srgbClr val="D97A1E"/>
      </a:accent2>
      <a:accent3>
        <a:srgbClr val="6E9A7E"/>
      </a:accent3>
      <a:accent4>
        <a:srgbClr val="D9483F"/>
      </a:accent4>
      <a:accent5>
        <a:srgbClr val="4A6572"/>
      </a:accent5>
      <a:accent6>
        <a:srgbClr val="C7D8CC"/>
      </a:accent6>
      <a:hlink>
        <a:srgbClr val="1F4D36"/>
      </a:hlink>
      <a:folHlink>
        <a:srgbClr val="4A6572"/>
      </a:folHlink>
    </a:clrScheme>
    <a:fontScheme name="King County Esta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Immobiliensuche in King County für Jacob Phillips</dc:title>
  <dc:subject>PptxGenJS Presentation</dc:subject>
  <dc:creator>PptxGenJS</dc:creator>
  <cp:lastModifiedBy>PptxGenJS</cp:lastModifiedBy>
  <cp:revision>1</cp:revision>
  <dcterms:created xsi:type="dcterms:W3CDTF">2026-10-16T09:16:07Z</dcterms:created>
  <dcterms:modified xsi:type="dcterms:W3CDTF">2026-10-16T09:16:07Z</dcterms:modified>
</cp:coreProperties>
</file>